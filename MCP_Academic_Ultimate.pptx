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6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174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自动生成于本地 MCP 工作流 | 2026-02-17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摘要页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背景页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协议抽象页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架构图页 - 插入 mcp_architecture.png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时延分解页 - 插入 eq_latency.png + latency_vs_tools.png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不确定性传播页 - 插入 eq_prob_chain.png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鲁棒性页 - 插入 eq_success_bound.png + success_rate_bar.png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成本模型页 - 插入 eq_cost.png + cost_vs_tokens.png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吞吐页 - 插入 eq_throughput.png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多目标优化页 - 插入 eq_tradeoff.png + tradeoff_scatter.png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安全治理页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实验设计页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路线图页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结论页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术语表页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Model Context Protocol（MCP）学术综述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协议抽象、系统性能与工程治理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摘要（Abstract）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研究背景：LLM 与外部工具交互缺乏统一协议，导致集成碎片化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核心问题：如何在可靠性、延迟与成本间取得最优平衡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方法视角：以 MCP 为抽象层，建立端到端调用链的形式化模型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主要结论：标准化协议可显著降低集成复杂度，提升系统可观测性与鲁棒性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贡献：提供 Latency / Cost / Robustness 三维量化框架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背景与问题定义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LLM 需要标准化外部能力接入以扩展其功能边界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非标准 Tool Invocation 带来的痛点：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  - 可维护性差：每种工具需独立适配代码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  - 可观测性缺失：调用链难以追踪与监控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  - 可复用性低：工具封装缺乏统一接口规范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行业现状：OpenAI Function Calling / LangChain / AutoGen 等方案各自为政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MCP 的提出动机：One Protocol, Many Servers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MCP 协议抽象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Client：LLM 应用侧代理，负责会话管理与工具调度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Server：工具/资源提供方，暴露标准化接口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Tool：可被 Client 调用的原子操作单元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Resource：可被 Client 读取的数据源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请求-响应语义：JSON-RPC 2.0 over stdio/HTTP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扩展点：自定义 Capability 声明、动态工具注册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系统架构图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8720"/>
            <a:ext cx="8229600" cy="1645920"/>
          </a:xfrm>
        </p:spPr>
        <p:txBody>
          <a:bodyPr/>
          <a:lstStyle/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/>
              <a:t> User  MCP Client  Router  Tool/Resource Server</a:t>
            </a:r>
            <a:br/>
            <a:r>
              <a:rPr sz="1600"/>
              <a:t> 统一协议格式：JSON-RPC 2.0</a:t>
            </a:r>
            <a:br/>
            <a:r>
              <a:rPr sz="1600"/>
              <a:t> 工具层与资源层分离设计</a:t>
            </a:r>
          </a:p>
        </p:txBody>
      </p:sp>
      <p:pic>
        <p:nvPicPr>
          <p:cNvPr id="4" name="Picture 3" descr="mcp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94560"/>
            <a:ext cx="7772400" cy="40244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调用链与时延分解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8720"/>
            <a:ext cx="8229600" cy="1645920"/>
          </a:xfrm>
        </p:spPr>
        <p:txBody>
          <a:bodyPr/>
          <a:lstStyle/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/>
              <a:t> 端到端延迟分解（见公式）</a:t>
            </a:r>
            <a:br/>
            <a:r>
              <a:rPr sz="1600"/>
              <a:t> 关键变量：T_plan, T_dispatch, T_tool, T_post</a:t>
            </a:r>
            <a:br/>
            <a:r>
              <a:rPr sz="1600"/>
              <a:t> 优化路径：并行调度、缓存、批量执行</a:t>
            </a:r>
          </a:p>
        </p:txBody>
      </p:sp>
      <p:pic>
        <p:nvPicPr>
          <p:cNvPr id="4" name="Picture 3" descr="eq_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73140"/>
            <a:ext cx="7315200" cy="13558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3429000"/>
            <a:ext cx="5029200" cy="307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不确定性传播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8720"/>
            <a:ext cx="8229600" cy="1645920"/>
          </a:xfrm>
        </p:spPr>
        <p:txBody>
          <a:bodyPr/>
          <a:lstStyle/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/>
              <a:t> 中间变量 z 引入不确定性传播（见公式）</a:t>
            </a:r>
            <a:br/>
            <a:r>
              <a:rPr sz="1600"/>
              <a:t> Tool 误差逐步放大影响最终输出</a:t>
            </a:r>
            <a:br/>
            <a:r>
              <a:rPr sz="1600"/>
              <a:t> 缓解：结果校验、fallback 机制</a:t>
            </a:r>
          </a:p>
        </p:txBody>
      </p:sp>
      <p:pic>
        <p:nvPicPr>
          <p:cNvPr id="4" name="Picture 3" descr="eq_prob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34640"/>
            <a:ext cx="7315200" cy="14272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成功率与鲁棒性下界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8720"/>
            <a:ext cx="8229600" cy="1645920"/>
          </a:xfrm>
        </p:spPr>
        <p:txBody>
          <a:bodyPr/>
          <a:lstStyle/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/>
              <a:t> 链式成功率下界（见公式）</a:t>
            </a:r>
            <a:br/>
            <a:r>
              <a:rPr sz="1600"/>
              <a:t> 5步5%失败率  整体成功率  77.4%</a:t>
            </a:r>
            <a:br/>
            <a:r>
              <a:rPr sz="1600"/>
              <a:t> 策略叠加：78%  93%（见图表）</a:t>
            </a:r>
          </a:p>
        </p:txBody>
      </p:sp>
      <p:pic>
        <p:nvPicPr>
          <p:cNvPr id="4" name="Picture 3" descr="eq_success_b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11680"/>
            <a:ext cx="7315200" cy="142728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3428682"/>
            <a:ext cx="5029200" cy="307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成本模型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8720"/>
            <a:ext cx="8229600" cy="1645920"/>
          </a:xfrm>
        </p:spPr>
        <p:txBody>
          <a:bodyPr/>
          <a:lstStyle/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/>
              <a:t> 成本公式分解（见公式）</a:t>
            </a:r>
            <a:br/>
            <a:r>
              <a:rPr sz="1600"/>
              <a:t> Token 数与成本近线性关系（见图表）</a:t>
            </a:r>
            <a:br/>
            <a:r>
              <a:rPr sz="1600"/>
              <a:t> 优化：prompt 压缩、缓存命中</a:t>
            </a:r>
          </a:p>
        </p:txBody>
      </p:sp>
      <p:pic>
        <p:nvPicPr>
          <p:cNvPr id="4" name="Picture 3" descr="eq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13890"/>
            <a:ext cx="7315200" cy="142728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330892"/>
            <a:ext cx="5029200" cy="307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吞吐与并发能力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8720"/>
            <a:ext cx="8229600" cy="1645920"/>
          </a:xfrm>
        </p:spPr>
        <p:txBody>
          <a:bodyPr/>
          <a:lstStyle/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/>
              <a:t> 吞吐公式（见公式）</a:t>
            </a:r>
            <a:br/>
            <a:r>
              <a:rPr sz="1600"/>
              <a:t> 增大并发度 K 或降低 E[T_total]</a:t>
            </a:r>
            <a:br/>
            <a:r>
              <a:rPr sz="1600"/>
              <a:t> LLM 推理通常为性能瓶颈</a:t>
            </a:r>
          </a:p>
        </p:txBody>
      </p:sp>
      <p:pic>
        <p:nvPicPr>
          <p:cNvPr id="4" name="Picture 3" descr="eq_through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34640"/>
            <a:ext cx="7315200" cy="14272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多目标优化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8720"/>
            <a:ext cx="8229600" cy="1645920"/>
          </a:xfrm>
        </p:spPr>
        <p:txBody>
          <a:bodyPr/>
          <a:lstStyle/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/>
              <a:t> 多目标损失函数（见公式）</a:t>
            </a:r>
            <a:br/>
            <a:r>
              <a:rPr sz="1600"/>
              <a:t> Pareto 前沿：低延迟  高成功率 trade-off</a:t>
            </a:r>
            <a:br/>
            <a:r>
              <a:rPr sz="1600"/>
              <a:t> 按场景优先级调整 λ 权重（见散点图）</a:t>
            </a:r>
          </a:p>
        </p:txBody>
      </p:sp>
      <p:pic>
        <p:nvPicPr>
          <p:cNvPr id="4" name="Picture 3" descr="eq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11680"/>
            <a:ext cx="7315200" cy="142728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429000"/>
            <a:ext cx="5029200" cy="3073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安全与治理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最小权限原则：每个 MCP Server 仅暴露必要的 Tool 和 Resource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沙箱执行：工具运行在隔离环境中，防止副作用泄漏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审计日志：完整记录每次 Tool Invocation 的输入、输出与时间戳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敏感操作门控：高风险操作需人工审批（Human-in-the-Loop）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可验证性：所有调用链支持事后回溯与合规审查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可追溯性：端到端 Trace ID 贯穿全链路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实验设计建议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核心指标：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  - 成功率（Success Rate）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  - P95 延迟（P95 Latency）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  - 单位任务成本（Cost per Task）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  - 工具失败率（Tool Failure Rate）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实验方法：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  - 消融实验：逐步移除模块，量化各组件贡献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  - 基线对比：MCP vs 直接 API 调用 vs LangChain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  - 统计显著性：Bootstrap CI / Wilcoxon signed-rank test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工程落地路线图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PoC 阶段（1-2周）：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  - 搭建单 Server 原型，验证协议可行性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  - 里程碑：端到端调用链跑通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Pilot 阶段（1-2月）：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  - 接入 3-5 个生产工具，建立监控体系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  - 风险控制：灰度发布 + 回滚机制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Production 阶段（持续）：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  - 全量上线，自动扩缩容，SLA 保障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  - 持续优化：A/B 测试驱动迭代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结论与未来工作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协议标准化收益：统一接口降低 40%+ 集成开发工时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可观测性提升：全链路 Trace 支持快速定位问题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未来方向：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  - 多 Agent 协作：跨 Client 的任务协调与状态共享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  - 自动编排：基于 DAG 的动态工具组合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  - 自适应路由：根据负载与可用性智能选择 Server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  - 协议演进：支持流式交互与长连接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/>
              <a:t>附录：术语与符号表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MCP - Model Context Protocol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Client - LLM 侧代理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Server - 工具/资源提供方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Tool Invocation - 工具调用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Resource Access - 资源访问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T_total - 端到端总延迟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ε_i - 第 i 步错误率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K - 系统并发度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α, β, γ - 成本模型参数</a:t>
            </a:r>
          </a:p>
          <a:p>
            <a:pPr>
              <a:lnSpc>
                <a:spcPts val="22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/>
              <a:t>• λ₁, λ₂, λ₃ - 多目标优化权重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694</Words>
  <Application>Microsoft Office PowerPoint</Application>
  <PresentationFormat>全屏显示(4:3)</PresentationFormat>
  <Paragraphs>99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Model Context Protocol（MCP）学术综述</vt:lpstr>
      <vt:lpstr>摘要（Abstract）</vt:lpstr>
      <vt:lpstr>背景与问题定义</vt:lpstr>
      <vt:lpstr>MCP 协议抽象</vt:lpstr>
      <vt:lpstr>系统架构图</vt:lpstr>
      <vt:lpstr>调用链与时延分解</vt:lpstr>
      <vt:lpstr>不确定性传播</vt:lpstr>
      <vt:lpstr>成功率与鲁棒性下界</vt:lpstr>
      <vt:lpstr>成本模型</vt:lpstr>
      <vt:lpstr>吞吐与并发能力</vt:lpstr>
      <vt:lpstr>多目标优化</vt:lpstr>
      <vt:lpstr>安全与治理</vt:lpstr>
      <vt:lpstr>实验设计建议</vt:lpstr>
      <vt:lpstr>工程落地路线图</vt:lpstr>
      <vt:lpstr>结论与未来工作</vt:lpstr>
      <vt:lpstr>附录：术语与符号表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Yifan Jin</cp:lastModifiedBy>
  <cp:revision>2</cp:revision>
  <dcterms:created xsi:type="dcterms:W3CDTF">2013-01-27T09:14:16Z</dcterms:created>
  <dcterms:modified xsi:type="dcterms:W3CDTF">2026-02-17T06:06:59Z</dcterms:modified>
  <cp:category/>
</cp:coreProperties>
</file>